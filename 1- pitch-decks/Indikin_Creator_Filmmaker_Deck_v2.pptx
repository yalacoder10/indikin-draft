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4114800" cy="6803136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</a:rPr>
              <a:t>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INDIKIN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4290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FOR CREATORS &amp; FILMMAKERS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097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YOUR FILM.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6596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YOUR TOKEN.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83464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EA0D68"/>
                </a:solidFill>
              </a:rPr>
              <a:t>YOUR FUTURE.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3840480"/>
            <a:ext cx="7315200" cy="45720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977639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Stop chasing gatekeepers.
Indikin gives independent filmmakers and creators
the tools to fund, distribute and own their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51663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Join the ecosystem. Build your community. Keep your rights.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www.indikin.online  |  info@indikin.com  |  linktr.ee/indikin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0D68"/>
                </a:solidFill>
              </a:rPr>
              <a:t>THE CREATOR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The system is designed to exploit you —
not support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5669280" cy="21945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566928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105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0D68"/>
                </a:solidFill>
              </a:rPr>
              <a:t>FUNDING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67712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Crowdfunding, grants, investors — all take time, money and often your creative control. Most filmmakers lose rights before the camera rolls.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5669280" cy="21945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645920"/>
            <a:ext cx="566928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105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0D68"/>
                </a:solidFill>
              </a:rPr>
              <a:t>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67712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Film festivals and streaming platforms don't guarantee visibility. The attention economy is overcrowded. Most indie films never reach profitability.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069080"/>
            <a:ext cx="5669280" cy="21945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069080"/>
            <a:ext cx="566928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23367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0D68"/>
                </a:solidFill>
              </a:rPr>
              <a:t>EXPOSURE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690872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Standing out is harder than ever. Without proper exposure, incredible work goes unseen — even with great content and real talent behind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069080"/>
            <a:ext cx="5669280" cy="21945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69080"/>
            <a:ext cx="566928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23367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A0D68"/>
                </a:solidFill>
              </a:rPr>
              <a:t>OWNERSHIP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90872"/>
            <a:ext cx="5212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Filmmakers who do break through often lose IP through unfavourable deals born from confusion, desperation — or manipulation.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90% of creators earn less than minimum wage  ·  Over 90% of indie films never reach profitability  ·  Algorithms control your reach, not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0D68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Everything you need to create, fund and distribute — on your terms.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2743200" cy="50749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08760"/>
            <a:ext cx="2743200" cy="64008"/>
          </a:xfrm>
          <a:prstGeom prst="rect">
            <a:avLst/>
          </a:prstGeom>
          <a:solidFill>
            <a:srgbClr val="36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25880" y="1947672"/>
            <a:ext cx="731520" cy="731520"/>
          </a:xfrm>
          <a:prstGeom prst="ellipse">
            <a:avLst/>
          </a:prstGeom>
          <a:solidFill>
            <a:srgbClr val="36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8072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68CFF"/>
                </a:solidFill>
              </a:rPr>
              <a:t>INDIFLIX
STREAMING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79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Distribute films via smart contract revenue splits — direct to your wallet. No middlemen.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508760"/>
            <a:ext cx="2743200" cy="50749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1508760"/>
            <a:ext cx="2743200" cy="64008"/>
          </a:xfrm>
          <a:prstGeom prst="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7680" y="1947672"/>
            <a:ext cx="731520" cy="731520"/>
          </a:xfrm>
          <a:prstGeom prst="ellipse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8072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C864"/>
                </a:solidFill>
              </a:rPr>
              <a:t>PRODUCTION
FUND GRANTS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3611879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Access monthly grants from the collective treasury. Pitch the founding filmmakers to fund your next project.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2743200" cy="50749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508760"/>
            <a:ext cx="2743200" cy="6400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69479" y="1947672"/>
            <a:ext cx="731520" cy="73152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28072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A78BFA"/>
                </a:solidFill>
              </a:rPr>
              <a:t>AI PRODUCTION
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611879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VFX tools, multilingual subtitling, script assistance, marketing automation and more — built for independent creators.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508760"/>
            <a:ext cx="2743200" cy="50749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508760"/>
            <a:ext cx="274320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72600" y="1618488"/>
            <a:ext cx="2468880" cy="228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50" b="1">
                <a:solidFill>
                  <a:srgbClr val="FFFFFF"/>
                </a:solidFill>
              </a:rPr>
              <a:t>OPTIONAL UPGRADE</a:t>
            </a:r>
          </a:p>
        </p:txBody>
      </p:sp>
      <p:sp>
        <p:nvSpPr>
          <p:cNvPr id="23" name="Oval 22"/>
          <p:cNvSpPr/>
          <p:nvPr/>
        </p:nvSpPr>
        <p:spPr>
          <a:xfrm>
            <a:off x="10241280" y="1947672"/>
            <a:ext cx="731520" cy="731520"/>
          </a:xfrm>
          <a:prstGeom prst="ellipse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2807208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A0D68"/>
                </a:solidFill>
              </a:rPr>
              <a:t>FILMMAKER
TOKEN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611879"/>
            <a:ext cx="2468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Optionally launch your own creator token to unlock fan funding, community rewards and token-holder revenue streams.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0D68"/>
                </a:solidFill>
              </a:rPr>
              <a:t>AI TOOLS FOR CREATORS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Studio-quality production &amp; marketing —
built into the platform.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36192"/>
            <a:ext cx="3657600" cy="457200"/>
          </a:xfrm>
          <a:prstGeom prst="rect">
            <a:avLst/>
          </a:prstGeom>
          <a:solidFill>
            <a:srgbClr val="36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727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84831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84831"/>
            <a:ext cx="54864" cy="1389888"/>
          </a:xfrm>
          <a:prstGeom prst="rect">
            <a:avLst/>
          </a:prstGeom>
          <a:solidFill>
            <a:srgbClr val="36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1945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68CFF"/>
                </a:solidFill>
              </a:rPr>
              <a:t>Script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1518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AI-powered script analysis, coverage reports and story development feedback.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593591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593591"/>
            <a:ext cx="54864" cy="1389888"/>
          </a:xfrm>
          <a:prstGeom prst="rect">
            <a:avLst/>
          </a:prstGeom>
          <a:solidFill>
            <a:srgbClr val="36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7033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68CFF"/>
                </a:solidFill>
              </a:rPr>
              <a:t>Shot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12394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AI storyboard suggestions and shot list generation from your script.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102352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5102352"/>
            <a:ext cx="54864" cy="1389888"/>
          </a:xfrm>
          <a:prstGeom prst="rect">
            <a:avLst/>
          </a:prstGeom>
          <a:solidFill>
            <a:srgbClr val="36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2120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68CFF"/>
                </a:solidFill>
              </a:rPr>
              <a:t>Voice &amp; Music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3270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Royalty-free AI music generation and voiceover synthesis for any scene.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1536192"/>
            <a:ext cx="3657600" cy="4572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53128" y="15727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POST-PRODUCTION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5968" y="2084831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2084831"/>
            <a:ext cx="54864" cy="13898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21945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</a:rPr>
              <a:t>VFX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261518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Accessible AI visual effects — sky replacement, background removal, colour grading.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15968" y="3593591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5968" y="3593591"/>
            <a:ext cx="54864" cy="13898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37033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</a:rPr>
              <a:t>Multilingual
Subtitles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12394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Automatic subtitling in 50+ languages. Reach global audiences from day one.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15968" y="5102352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15968" y="5102352"/>
            <a:ext cx="54864" cy="138988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7136" y="52120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</a:rPr>
              <a:t>Auto-Edit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7136" y="563270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AI-suggested cut points and pacing analysis based on genre and target audience.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66176" y="1536192"/>
            <a:ext cx="3657600" cy="457200"/>
          </a:xfrm>
          <a:prstGeom prst="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3336" y="15727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66176" y="2084831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66176" y="2084831"/>
            <a:ext cx="54864" cy="1389888"/>
          </a:xfrm>
          <a:prstGeom prst="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67344" y="21945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64"/>
                </a:solidFill>
              </a:rPr>
              <a:t>Social Clip Maker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7344" y="261518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Auto-generate trailers and teasers optimised for TikTok, Instagram and YouTube.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66176" y="3593591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6176" y="3593591"/>
            <a:ext cx="54864" cy="1389888"/>
          </a:xfrm>
          <a:prstGeom prst="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67344" y="37033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64"/>
                </a:solidFill>
              </a:rPr>
              <a:t>Campaign Automation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7344" y="412394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Scheduled posting, audience targeting and performance analytics — all in one dashboard.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66176" y="5102352"/>
            <a:ext cx="3657600" cy="138988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66176" y="5102352"/>
            <a:ext cx="54864" cy="1389888"/>
          </a:xfrm>
          <a:prstGeom prst="rect">
            <a:avLst/>
          </a:prstGeom>
          <a:solidFill>
            <a:srgbClr val="00C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67344" y="52120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64"/>
                </a:solidFill>
              </a:rPr>
              <a:t>Press Kit Builder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7344" y="5632704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AI-generated EPKs, posters and distribution one-pagers ready to send to festivals.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6464808"/>
            <a:ext cx="11457432" cy="2560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49224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All AI tools are included from the PLUS tier onward. No additional software subscriptions required.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0D68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Three steps from creator to ecosystem member.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3566160" cy="1005840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184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JOIN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3566160" cy="39319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Apply to become an Indikin Filmmaker. Show a track record of long-form content. Our team onboards you personally — no prior Web3 experience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532120"/>
            <a:ext cx="310896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669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Apply at indikin.online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417320"/>
            <a:ext cx="3566160" cy="1005840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46304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6712" y="16184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CREATE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23160"/>
            <a:ext cx="3566160" cy="39319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6060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Access IndiFlix streaming, Production Fund grants, the full AI tool suite and the Indikin creator community. Start making and distributing films right away.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9432" y="5532120"/>
            <a:ext cx="310896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5669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Your tools, your creative home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1417320"/>
            <a:ext cx="3566160" cy="1005840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10344" y="1618488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GROW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4464" y="2423160"/>
            <a:ext cx="3566160" cy="39319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3064" y="26060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Earn streaming revenues via smart contracts. Apply for monthly production grants. Optionally launch your own filmmaker token to unlock fan funding and deeper community rewards.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13064" y="5532120"/>
            <a:ext cx="310896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13064" y="5669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A0D68"/>
                </a:solidFill>
              </a:rPr>
              <a:t>Token launch is optional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0D68"/>
                </a:solidFill>
              </a:rPr>
              <a:t>YOUR 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Real revenue streams.
Owned by you, governed on-chain.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91640"/>
            <a:ext cx="3657600" cy="21031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365760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0D68"/>
                </a:solidFill>
              </a:rPr>
              <a:t>STREAMING REVENUES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50008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Smart contract revenue splits from every IndiFlix stream — automatically sent to your wallet. No middlemen.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691640"/>
            <a:ext cx="3657600" cy="21031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691640"/>
            <a:ext cx="365760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0D68"/>
                </a:solidFill>
              </a:rPr>
              <a:t>MONTHLY GRANTS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2350008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Pitch the founding filmmakers monthly for production cost coverage from the collective Production Fund treasury.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691640"/>
            <a:ext cx="3657600" cy="21031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66176" y="1691640"/>
            <a:ext cx="365760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94776" y="18745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0D68"/>
                </a:solidFill>
              </a:rPr>
              <a:t>TOKEN REWARDS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94776" y="2350008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If you launch a filmmaker token, earn as your community grows. The more holders, the more economic activity around your work. (Optional)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23360"/>
            <a:ext cx="3657600" cy="21031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23360"/>
            <a:ext cx="365760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0D68"/>
                </a:solidFill>
              </a:rPr>
              <a:t>INDEX EXPOSURE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681728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Your token (if launched) joins the Indikin Filmmaker Token Index — exposure to $INDIKIN token holders and investors.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5968" y="4023360"/>
            <a:ext cx="3657600" cy="21031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023360"/>
            <a:ext cx="365760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4206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0D68"/>
                </a:solidFill>
              </a:rPr>
              <a:t>SCHOLARSHIPS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681728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Structured onboarding support, mentorship and access to the broader creator collective — included from day one.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66176" y="4023360"/>
            <a:ext cx="3657600" cy="210312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66176" y="4023360"/>
            <a:ext cx="3657600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94776" y="42062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A0D68"/>
                </a:solidFill>
              </a:rPr>
              <a:t>COMMUNITY NETWORK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4776" y="4681728"/>
            <a:ext cx="32918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Connect, collaborate and co-create with Indikin filmmakers. Shared audiences, shared growth, shared ownership.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0D68"/>
                </a:solidFill>
              </a:rPr>
              <a:t>THE COMMUNITY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Real filmmakers. Building real things. Right now.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645920"/>
            <a:ext cx="2103120" cy="19202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645920"/>
            <a:ext cx="21031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A0D68"/>
                </a:solidFill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26517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Filmmakers
Onboarded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645920"/>
            <a:ext cx="2103120" cy="19202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1760" y="1645920"/>
            <a:ext cx="21031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A0D68"/>
                </a:solidFill>
              </a:rPr>
              <a:t>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517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Films &amp; Series
on IndiFlix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3479" y="1645920"/>
            <a:ext cx="2103120" cy="19202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79" y="1645920"/>
            <a:ext cx="21031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A0D68"/>
                </a:solidFill>
              </a:rPr>
              <a:t>222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19" y="26517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Registered
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199" y="1645920"/>
            <a:ext cx="2103120" cy="19202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199" y="1645920"/>
            <a:ext cx="21031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59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A0D68"/>
                </a:solidFill>
              </a:rPr>
              <a:t>$33K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6517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In the
Production Fund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46919" y="1645920"/>
            <a:ext cx="2103120" cy="19202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46919" y="1645920"/>
            <a:ext cx="21031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1828800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EA0D68"/>
                </a:solidFill>
              </a:rPr>
              <a:t>810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59" y="265176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Token
Holders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77639"/>
            <a:ext cx="11430000" cy="173736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977639"/>
            <a:ext cx="73152" cy="1737360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069080"/>
            <a:ext cx="10789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"Born from a documentary. Proven on PulseChain.
Now coming to Ethereum — with a community of filmmakers already making films,
building tokens and earning revenues together."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0D68"/>
                </a:solidFill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Choose your level of involvement.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2697480" cy="51206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697480" cy="640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$4.08/mo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734056"/>
            <a:ext cx="64008" cy="640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624328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Unlimited ad-free access to Indikin Originals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630168"/>
            <a:ext cx="64008" cy="640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Priority access to become an Indikin Filmmaker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526280"/>
            <a:ext cx="64008" cy="64008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16552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Private pre-screening releases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18688" y="1417320"/>
            <a:ext cx="2697480" cy="51206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8688" y="1417320"/>
            <a:ext cx="2697480" cy="64008"/>
          </a:xfrm>
          <a:prstGeom prst="rect">
            <a:avLst/>
          </a:prstGeom>
          <a:solidFill>
            <a:srgbClr val="5A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158191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848" y="20116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$8.25/mo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2734056"/>
            <a:ext cx="64008" cy="64008"/>
          </a:xfrm>
          <a:prstGeom prst="rect">
            <a:avLst/>
          </a:prstGeom>
          <a:solidFill>
            <a:srgbClr val="5A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4448" y="2624328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IndiFlix global streaming distribution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01568" y="3630168"/>
            <a:ext cx="64008" cy="64008"/>
          </a:xfrm>
          <a:prstGeom prst="rect">
            <a:avLst/>
          </a:prstGeom>
          <a:solidFill>
            <a:srgbClr val="5A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84448" y="3520440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Full AI production &amp; marketing suite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1568" y="4526280"/>
            <a:ext cx="64008" cy="64008"/>
          </a:xfrm>
          <a:prstGeom prst="rect">
            <a:avLst/>
          </a:prstGeom>
          <a:solidFill>
            <a:srgbClr val="5A1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4416552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Pro support from Indikin community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7336" y="1417320"/>
            <a:ext cx="2697480" cy="51206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17336" y="1417320"/>
            <a:ext cx="269748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74536" y="1161288"/>
            <a:ext cx="1783080" cy="256032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✦ MOST POPULAR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158191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A0D68"/>
                </a:solidFill>
              </a:rPr>
              <a:t>PRO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4496" y="20116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$12.41/mo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0216" y="2734056"/>
            <a:ext cx="64008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3096" y="2624328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Everything in PLUS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0216" y="3630168"/>
            <a:ext cx="64008" cy="64008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3520440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</a:rPr>
              <a:t>Optional: launch your filmmaker token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0216" y="4526280"/>
            <a:ext cx="64008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3096" y="4416552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Earn streaming revenue via token holders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0216" y="5422392"/>
            <a:ext cx="64008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3096" y="5312664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Priority access to features &amp; partners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15984" y="1417320"/>
            <a:ext cx="2697480" cy="512064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15984" y="1417320"/>
            <a:ext cx="2697480" cy="64008"/>
          </a:xfrm>
          <a:prstGeom prst="rect">
            <a:avLst/>
          </a:prstGeom>
          <a:solidFill>
            <a:srgbClr val="8B0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53144" y="158191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STAR 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3144" y="20116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$20.75/mo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98863" y="2734056"/>
            <a:ext cx="64008" cy="64008"/>
          </a:xfrm>
          <a:prstGeom prst="rect">
            <a:avLst/>
          </a:prstGeom>
          <a:solidFill>
            <a:srgbClr val="8B0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81744" y="2624328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Everything in PRO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98863" y="3630168"/>
            <a:ext cx="64008" cy="64008"/>
          </a:xfrm>
          <a:prstGeom prst="rect">
            <a:avLst/>
          </a:prstGeom>
          <a:solidFill>
            <a:srgbClr val="8B0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81744" y="3520440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Priority Production Fund &amp; Grants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98863" y="4526280"/>
            <a:ext cx="64008" cy="64008"/>
          </a:xfrm>
          <a:prstGeom prst="rect">
            <a:avLst/>
          </a:prstGeom>
          <a:solidFill>
            <a:srgbClr val="8B0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81744" y="4416552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Full AI marketing automation suite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98863" y="5422392"/>
            <a:ext cx="64008" cy="64008"/>
          </a:xfrm>
          <a:prstGeom prst="rect">
            <a:avLst/>
          </a:prstGeom>
          <a:solidFill>
            <a:srgbClr val="8B0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81744" y="5312664"/>
            <a:ext cx="217627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AI Filmmaking Industry Agent access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"/>
            <a:ext cx="12188952" cy="3017520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"/>
            <a:ext cx="10360152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Ready to make your film
and own your future?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57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Indikin is open to independent filmmakers and web2 creators ready to step into Web3.
No prior blockchain experience needed — we'll walk you through every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480560"/>
            <a:ext cx="3017520" cy="17373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" y="4480560"/>
            <a:ext cx="30175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4663440"/>
            <a:ext cx="548640" cy="548640"/>
          </a:xfrm>
          <a:prstGeom prst="ellipse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46817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APPLY ONLINE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50749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0D68"/>
                </a:solidFill>
              </a:rPr>
              <a:t>indikin.online/apply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3949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Start your application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4480560"/>
            <a:ext cx="3017520" cy="17373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4480560"/>
            <a:ext cx="30175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20" y="4663440"/>
            <a:ext cx="548640" cy="548640"/>
          </a:xfrm>
          <a:prstGeom prst="ellipse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46817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GET IN TOUCH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50749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0D68"/>
                </a:solidFill>
              </a:rPr>
              <a:t>info@indikin.com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53949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Ask us anything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4480560"/>
            <a:ext cx="3017520" cy="1737360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0" y="4480560"/>
            <a:ext cx="3017520" cy="64008"/>
          </a:xfrm>
          <a:prstGeom prst="rect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19" y="4663440"/>
            <a:ext cx="548640" cy="548640"/>
          </a:xfrm>
          <a:prstGeom prst="ellipse">
            <a:avLst/>
          </a:prstGeom>
          <a:solidFill>
            <a:srgbClr val="EA0D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46817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EXPLORE MORE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50749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A0D68"/>
                </a:solidFill>
              </a:rPr>
              <a:t>linktr.ee/indikin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53949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Socials, docs &amp; community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56539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www.indikin.online  |  info@indikin.com  |  linktr.ee/indikin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